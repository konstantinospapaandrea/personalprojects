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
- Background visual generated with OpenAI image generation on March 19,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
- Right-side visual generated with OpenAI image generation on March 19,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from the user's thesis prototype document: Motion2Music_Thesis_Doc_Prototype.docx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futuristic_and_abstrac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251960"/>
            <a:ext cx="6629400" cy="1664208"/>
          </a:xfrm>
          <a:prstGeom prst="roundRect">
            <a:avLst>
              <a:gd name="adj" fmla="val 4396"/>
            </a:avLst>
          </a:prstGeom>
          <a:solidFill>
            <a:srgbClr val="071225">
              <a:alpha val="82000"/>
            </a:srgbClr>
          </a:solidFill>
          <a:ln w="12700">
            <a:solidFill>
              <a:srgbClr val="66E3FF">
                <a:alpha val="2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8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777240" y="45262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Motion2Music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77240" y="5010912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8C7E6"/>
                </a:solidFill>
              </a:rPr>
              <a:t>A multi-stage pipeline for generating music from dance motion using LMA, rhythm, semantics, and CLAP-guided prototypes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5632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E3FF"/>
                </a:solidFill>
              </a:rPr>
              <a:t>Small thesis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motion-to-music is hard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The core challenge is ambiguity, not just prediction accuracy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4572000" cy="4983480"/>
          </a:xfrm>
          <a:prstGeom prst="roundRect">
            <a:avLst>
              <a:gd name="adj" fmla="val 1600"/>
            </a:avLst>
          </a:prstGeom>
          <a:solidFill>
            <a:srgbClr val="0D1B34"/>
          </a:solidFill>
          <a:ln w="15240">
            <a:solidFill>
              <a:srgbClr val="274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45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AFF"/>
                </a:solidFill>
              </a:rPr>
              <a:t>One dance sequence can match many valid musical outcomes.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3794760" cy="1135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6E3FF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B8C7E6"/>
                </a:solidFill>
              </a:rPr>
              <a:t>A single motion clip may fit electronic, cinematic, or pop music.</a:t>
            </a:r>
            <a:pPr indent="0" marL="0">
              <a:buNone/>
            </a:pPr>
            <a:r>
              <a:rPr lang="en-US" sz="1700" dirty="0">
                <a:solidFill>
                  <a:srgbClr val="B8C7E6"/>
                </a:solidFill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66E3FF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B8C7E6"/>
                </a:solidFill>
              </a:rPr>
              <a:t>Directly predicting exact audio is unstable because there is no unique “correct” target.</a:t>
            </a:r>
            <a:pPr indent="0" marL="0">
              <a:buNone/>
            </a:pPr>
            <a:r>
              <a:rPr lang="en-US" sz="1700" dirty="0">
                <a:solidFill>
                  <a:srgbClr val="B8C7E6"/>
                </a:solidFill>
              </a:rPr>
              <a:t>
</a:t>
            </a:r>
            <a:pPr indent="0" marL="0">
              <a:buNone/>
            </a:pPr>
            <a:r>
              <a:rPr lang="en-US" sz="1700" b="1" dirty="0">
                <a:solidFill>
                  <a:srgbClr val="66E3FF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B8C7E6"/>
                </a:solidFill>
              </a:rPr>
              <a:t>The project therefore shifts from raw audio prediction to interpretable intermediate controls.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4983480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4FCB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5001768"/>
            <a:ext cx="73152" cy="832104"/>
          </a:xfrm>
          <a:prstGeom prst="rect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1149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Key idea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422392"/>
            <a:ext cx="3538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7E6"/>
                </a:solidFill>
              </a:rPr>
              <a:t>Use motion to predict meaning first, then let a generative music model handle the final synthesis.</a:t>
            </a:r>
            <a:endParaRPr lang="en-US" sz="1200" dirty="0"/>
          </a:p>
        </p:txBody>
      </p:sp>
      <p:pic>
        <p:nvPicPr>
          <p:cNvPr id="12" name="Image 0" descr="/mnt/data/a_digital_illustration_on_a_dark_navy_blue_backgro.png">    </p:cNvPr>
          <p:cNvPicPr>
            <a:picLocks noChangeAspect="1"/>
          </p:cNvPicPr>
          <p:nvPr/>
        </p:nvPicPr>
        <p:blipFill>
          <a:blip r:embed="rId1"/>
          <a:srcRect l="11064" r="11064" t="0" b="0"/>
          <a:stretch/>
        </p:blipFill>
        <p:spPr>
          <a:xfrm>
            <a:off x="5303520" y="1371600"/>
            <a:ext cx="63550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evaluation protocol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The thesis emphasizes honest testing, especially under domain shift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291840" cy="1024128"/>
          </a:xfrm>
          <a:prstGeom prst="roundRect">
            <a:avLst>
              <a:gd name="adj" fmla="val 535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66E3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435608"/>
            <a:ext cx="73152" cy="987552"/>
          </a:xfrm>
          <a:prstGeom prst="rect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4533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Datasets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8C7E6"/>
                </a:solidFill>
              </a:rPr>
              <a:t>AIST++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7E6"/>
                </a:solidFill>
              </a:rPr>
              <a:t>FineDance (converted to BVH)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7E6"/>
                </a:solidFill>
              </a:rPr>
              <a:t>SimonAlexanderson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33472"/>
            <a:ext cx="3291840" cy="1078992"/>
          </a:xfrm>
          <a:prstGeom prst="roundRect">
            <a:avLst>
              <a:gd name="adj" fmla="val 5085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8D77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2651760"/>
            <a:ext cx="73152" cy="1042416"/>
          </a:xfrm>
          <a:prstGeom prst="rect">
            <a:avLst/>
          </a:prstGeom>
          <a:solidFill>
            <a:srgbClr val="8D77FF"/>
          </a:solidFill>
          <a:ln w="12700">
            <a:solidFill>
              <a:srgbClr val="8D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76148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Main feature tables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3072384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7E6"/>
                </a:solidFill>
              </a:rPr>
              <a:t>meta.csv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7E6"/>
                </a:solidFill>
              </a:rPr>
              <a:t>X_motion.csv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7E6"/>
                </a:solidFill>
              </a:rPr>
              <a:t>X_motion_temporal.csv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8C7E6"/>
                </a:solidFill>
              </a:rPr>
              <a:t>Y_audio.csv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3291840" cy="1325880"/>
          </a:xfrm>
          <a:prstGeom prst="roundRect">
            <a:avLst>
              <a:gd name="adj" fmla="val 4138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CC66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" y="3922776"/>
            <a:ext cx="73152" cy="1289304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03250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Leakage prevention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" y="4343400"/>
            <a:ext cx="30358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Group-aware splits by stem/root keep near-duplicate chunks or views out of both train and test.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594360" y="544068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4FCB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" y="5458968"/>
            <a:ext cx="73152" cy="749808"/>
          </a:xfrm>
          <a:prstGeom prst="rect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56869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8952" y="58795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E6"/>
                </a:solidFill>
              </a:rPr>
              <a:t>A good score is only meaningful if train/test separation is strict.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1508760"/>
            <a:ext cx="7360920" cy="4526280"/>
          </a:xfrm>
          <a:prstGeom prst="roundRect">
            <a:avLst>
              <a:gd name="adj" fmla="val 1616"/>
            </a:avLst>
          </a:prstGeom>
          <a:solidFill>
            <a:srgbClr val="0D1B34"/>
          </a:solidFill>
          <a:ln w="15240">
            <a:solidFill>
              <a:srgbClr val="274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AFF"/>
                </a:solidFill>
              </a:rPr>
              <a:t>Two split settings were used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26280" y="2240280"/>
            <a:ext cx="2971800" cy="2697480"/>
          </a:xfrm>
          <a:prstGeom prst="roundRect">
            <a:avLst>
              <a:gd name="adj" fmla="val 1695"/>
            </a:avLst>
          </a:prstGeom>
          <a:solidFill>
            <a:srgbClr val="112347"/>
          </a:solidFill>
          <a:ln w="13970">
            <a:solidFill>
              <a:srgbClr val="66E3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4414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6E3FF"/>
                </a:solidFill>
              </a:rPr>
              <a:t>Strict OOD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36592" y="2834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AFF"/>
                </a:solidFill>
              </a:rPr>
              <a:t>Train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36592" y="3090672"/>
            <a:ext cx="2331720" cy="457200"/>
          </a:xfrm>
          <a:prstGeom prst="roundRect">
            <a:avLst/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182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AFF"/>
                </a:solidFill>
              </a:rPr>
              <a:t>AIST++  +  FineDance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36592" y="3730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AFF"/>
                </a:solidFill>
              </a:rPr>
              <a:t>Test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36592" y="3986784"/>
            <a:ext cx="2331720" cy="457200"/>
          </a:xfrm>
          <a:prstGeom prst="roundRect">
            <a:avLst/>
          </a:prstGeom>
          <a:solidFill>
            <a:srgbClr val="4E1E50"/>
          </a:solidFill>
          <a:ln w="12700">
            <a:solidFill>
              <a:srgbClr val="4E1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40782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7FAFF"/>
                </a:solidFill>
              </a:rPr>
              <a:t>SimonAlexanderson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18120" y="2240280"/>
            <a:ext cx="3246120" cy="2697480"/>
          </a:xfrm>
          <a:prstGeom prst="roundRect">
            <a:avLst>
              <a:gd name="adj" fmla="val 1695"/>
            </a:avLst>
          </a:prstGeom>
          <a:solidFill>
            <a:srgbClr val="112347"/>
          </a:solidFill>
          <a:ln w="13970">
            <a:solidFill>
              <a:srgbClr val="FF4FCB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28432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FCB"/>
                </a:solidFill>
              </a:rPr>
              <a:t>Mixed holdout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028432" y="2834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AFF"/>
                </a:solidFill>
              </a:rPr>
              <a:t>Train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28432" y="3090672"/>
            <a:ext cx="2514600" cy="457200"/>
          </a:xfrm>
          <a:prstGeom prst="roundRect">
            <a:avLst/>
          </a:prstGeom>
          <a:solidFill>
            <a:srgbClr val="143D66"/>
          </a:solidFill>
          <a:ln w="12700">
            <a:solidFill>
              <a:srgbClr val="143D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F7FAFF"/>
                </a:solidFill>
              </a:rPr>
              <a:t>AIST++ + FineDance + some Simon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8028432" y="37307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AFF"/>
                </a:solidFill>
              </a:rPr>
              <a:t>Test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28432" y="3986784"/>
            <a:ext cx="2514600" cy="457200"/>
          </a:xfrm>
          <a:prstGeom prst="roundRect">
            <a:avLst/>
          </a:prstGeom>
          <a:solidFill>
            <a:srgbClr val="4E1E50"/>
          </a:solidFill>
          <a:ln w="12700">
            <a:solidFill>
              <a:srgbClr val="4E1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40782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F7FAFF"/>
                </a:solidFill>
              </a:rPr>
              <a:t>remaining Simon holdout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4526280" y="5212080"/>
            <a:ext cx="6537960" cy="749808"/>
          </a:xfrm>
          <a:prstGeom prst="roundRect">
            <a:avLst>
              <a:gd name="adj" fmla="val 731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7CE2A8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44568" y="5230368"/>
            <a:ext cx="73152" cy="713232"/>
          </a:xfrm>
          <a:prstGeom prst="rect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5340096"/>
            <a:ext cx="6281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690872" y="5650992"/>
            <a:ext cx="6281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E6"/>
                </a:solidFill>
              </a:rPr>
              <a:t>Strict OOD is the most realistic test because it asks whether the system transfers across datasets rather than memorizing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multi-stage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The system decomposes a hard one-to-many task into interpretable stages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97480" y="2587752"/>
            <a:ext cx="201168" cy="384048"/>
          </a:xfrm>
          <a:prstGeom prst="chevron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3480" y="2587752"/>
            <a:ext cx="201168" cy="384048"/>
          </a:xfrm>
          <a:prstGeom prst="chevron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2587752"/>
            <a:ext cx="201168" cy="384048"/>
          </a:xfrm>
          <a:prstGeom prst="chevron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0" y="2587752"/>
            <a:ext cx="201168" cy="384048"/>
          </a:xfrm>
          <a:prstGeom prst="chevron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874520"/>
            <a:ext cx="2011680" cy="1993392"/>
          </a:xfrm>
          <a:prstGeom prst="roundRect">
            <a:avLst>
              <a:gd name="adj" fmla="val 3670"/>
            </a:avLst>
          </a:prstGeom>
          <a:solidFill>
            <a:srgbClr val="0D1B34"/>
          </a:solidFill>
          <a:ln w="19050">
            <a:solidFill>
              <a:srgbClr val="66E3FF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225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52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Motion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" y="2441448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7E6"/>
                </a:solidFill>
              </a:rPr>
              <a:t>BVH windows → LMA descriptors, beat events, tempo estimates, and temporal statistics.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944368" y="1874520"/>
            <a:ext cx="2011680" cy="1993392"/>
          </a:xfrm>
          <a:prstGeom prst="roundRect">
            <a:avLst>
              <a:gd name="adj" fmla="val 3670"/>
            </a:avLst>
          </a:prstGeom>
          <a:solidFill>
            <a:srgbClr val="0D1B34"/>
          </a:solidFill>
          <a:ln w="19050">
            <a:solidFill>
              <a:srgbClr val="FF4FCB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35808" y="1984248"/>
            <a:ext cx="384048" cy="384048"/>
          </a:xfrm>
          <a:prstGeom prst="ellipse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225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112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Semantic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54096" y="2441448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7E6"/>
                </a:solidFill>
              </a:rPr>
              <a:t>Normalized motion features are turned into interpretable controls such as energy, sharpness, control, and rhythm stability.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230368" y="1874520"/>
            <a:ext cx="2011680" cy="1993392"/>
          </a:xfrm>
          <a:prstGeom prst="roundRect">
            <a:avLst>
              <a:gd name="adj" fmla="val 3670"/>
            </a:avLst>
          </a:prstGeom>
          <a:solidFill>
            <a:srgbClr val="0D1B34"/>
          </a:solidFill>
          <a:ln w="19050">
            <a:solidFill>
              <a:srgbClr val="FFCC66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21808" y="1984248"/>
            <a:ext cx="384048" cy="384048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225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972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Prototype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0096" y="2441448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7E6"/>
                </a:solidFill>
              </a:rPr>
              <a:t>CLAP-derived prototype classes compress the target space into broad music families rather than exact audio.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516368" y="1874520"/>
            <a:ext cx="2011680" cy="1993392"/>
          </a:xfrm>
          <a:prstGeom prst="roundRect">
            <a:avLst>
              <a:gd name="adj" fmla="val 3670"/>
            </a:avLst>
          </a:prstGeom>
          <a:solidFill>
            <a:srgbClr val="0D1B34"/>
          </a:solidFill>
          <a:ln w="19050">
            <a:solidFill>
              <a:srgbClr val="8D77FF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07808" y="1984248"/>
            <a:ext cx="384048" cy="384048"/>
          </a:xfrm>
          <a:prstGeom prst="ellipse">
            <a:avLst/>
          </a:prstGeom>
          <a:solidFill>
            <a:srgbClr val="8D77FF"/>
          </a:solidFill>
          <a:ln w="12700">
            <a:solidFill>
              <a:srgbClr val="8D7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7808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225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832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Prompt construction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6096" y="2441448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7E6"/>
                </a:solidFill>
              </a:rPr>
              <a:t>Prototype + semantics + BPM/rhythm are converted into a structured text description.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802368" y="1874520"/>
            <a:ext cx="2011680" cy="1993392"/>
          </a:xfrm>
          <a:prstGeom prst="roundRect">
            <a:avLst>
              <a:gd name="adj" fmla="val 3670"/>
            </a:avLst>
          </a:prstGeom>
          <a:solidFill>
            <a:srgbClr val="0D1B34"/>
          </a:solidFill>
          <a:ln w="19050">
            <a:solidFill>
              <a:srgbClr val="7CE2A8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93808" y="1984248"/>
            <a:ext cx="384048" cy="384048"/>
          </a:xfrm>
          <a:prstGeom prst="ellipse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93808" y="1993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225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3692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Music generation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12096" y="2441448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B8C7E6"/>
                </a:solidFill>
              </a:rPr>
              <a:t>MusicGen produces candidate audio, which is then checked with synchronized BVH + audio playback.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1051560" y="4663440"/>
            <a:ext cx="10104120" cy="1051560"/>
          </a:xfrm>
          <a:prstGeom prst="roundRect">
            <a:avLst>
              <a:gd name="adj" fmla="val 521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66E3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9848" y="4681728"/>
            <a:ext cx="73152" cy="1014984"/>
          </a:xfrm>
          <a:prstGeom prst="rect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6152" y="4791456"/>
            <a:ext cx="9848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Why this architecture works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216152" y="5102352"/>
            <a:ext cx="98480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7E6"/>
                </a:solidFill>
              </a:rPr>
              <a:t>Motion usually does not determine one exact waveform. The pipeline predicts meaning and broad musical region first, then uses a generative model to create plausible audio.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motion becomes musical meaning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From movement descriptors to prompt-ready controls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66E3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35608"/>
            <a:ext cx="73152" cy="4078224"/>
          </a:xfrm>
          <a:prstGeom prst="rect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4533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1) LMA-based motion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1856232"/>
            <a:ext cx="31729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Examples: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• BODY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• EFFORT_WEIGHT_STRONG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• EFFORT_TIME_SUDDEN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• EFFORT_FLOW_BOUND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• SPACE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B8C7E6"/>
                </a:solidFill>
              </a:rPr>
              <a:t>These describe how movement feels, not only where joints are.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CC66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435608"/>
            <a:ext cx="73152" cy="4078224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4533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2) Rhythm and tempo features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1856232"/>
            <a:ext cx="31729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Beat events are detected from motion cues such as foot-contact timing.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From beat times: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IBI = diff(beat_times)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BPM = 60 / mean(IBI)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CV = std(IBI) / mean(IBI)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This captures both speed and rhythmic regularity.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4114800"/>
          </a:xfrm>
          <a:prstGeom prst="roundRect">
            <a:avLst>
              <a:gd name="adj" fmla="val 1600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4FCB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435608"/>
            <a:ext cx="73152" cy="4078224"/>
          </a:xfrm>
          <a:prstGeom prst="rect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3) Semantic control scores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2752" y="1856232"/>
            <a:ext cx="317296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The system maps motion into 9 higher-level controls, including: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energy, heaviness, sharpness, control, expansiveness, rhythm stability, arousal, valence, and dynamics.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These become tags and prompt phrases for MusicGen.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868680" y="5715000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7CE2A8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6968" y="5733288"/>
            <a:ext cx="73152" cy="676656"/>
          </a:xfrm>
          <a:prstGeom prst="rect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5843016"/>
            <a:ext cx="10488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Result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3272" y="6153912"/>
            <a:ext cx="10488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B8C7E6"/>
                </a:solidFill>
              </a:rPr>
              <a:t>Instead of predicting raw audio directly, the model predicts a compact language-like description of the dance.</a:t>
            </a:r>
            <a:endParaRPr lang="en-US" sz="11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experiments showed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The thesis evolved by learning from what failed first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8B8B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527048"/>
            <a:ext cx="73152" cy="4032504"/>
          </a:xfrm>
          <a:prstGeom prst="rect">
            <a:avLst/>
          </a:prstGeom>
          <a:solidFill>
            <a:srgbClr val="FF8B8B"/>
          </a:solidFill>
          <a:ln w="12700">
            <a:solidFill>
              <a:srgbClr val="FF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Early baseline: direct regression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3310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Motion → audio descriptors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Motion → CLAP embedding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Finding: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Performance under strict OOD was weak; descriptor regression could even show strongly negative mean R².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Takeaway: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B8C7E6"/>
                </a:solidFill>
              </a:rPr>
              <a:t>Exact audio targets were too ambiguous and brittle.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4315968" y="150876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CC66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527048"/>
            <a:ext cx="73152" cy="4032504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36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Intermediate step: semantic tuning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947672"/>
            <a:ext cx="3310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Hand-crafted semantic rules were tuned using CLAP(prompt) ↔ CLAP(audio) cosine similarity plus a consistency penalty.</a:t>
            </a:r>
            <a:endParaRPr lang="en-US" sz="1205" dirty="0"/>
          </a:p>
          <a:p>
            <a:pPr indent="0" marL="0">
              <a:buNone/>
            </a:pP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Finding:</a:t>
            </a: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Test mean cosine improved from about 0.167 to 0.194.</a:t>
            </a:r>
            <a:endParaRPr lang="en-US" sz="1205" dirty="0"/>
          </a:p>
          <a:p>
            <a:pPr indent="0" marL="0">
              <a:buNone/>
            </a:pP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Takeaway:</a:t>
            </a: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Prompt quality became more aligned and more stable.</a:t>
            </a:r>
            <a:endParaRPr lang="en-US" sz="1205" dirty="0"/>
          </a:p>
        </p:txBody>
      </p:sp>
      <p:sp>
        <p:nvSpPr>
          <p:cNvPr id="13" name="Shape 11"/>
          <p:cNvSpPr/>
          <p:nvPr/>
        </p:nvSpPr>
        <p:spPr>
          <a:xfrm>
            <a:off x="7973568" y="1508760"/>
            <a:ext cx="3566160" cy="4069080"/>
          </a:xfrm>
          <a:prstGeom prst="roundRect">
            <a:avLst>
              <a:gd name="adj" fmla="val 1538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7CE2A8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91856" y="1527048"/>
            <a:ext cx="73152" cy="4032504"/>
          </a:xfrm>
          <a:prstGeom prst="rect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3677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Best practical path: prototype prompting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8160" y="1947672"/>
            <a:ext cx="3310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CLAP audio embeddings were clustered into broad prototypes, and motion was used to predict prototype probabilities.</a:t>
            </a:r>
            <a:endParaRPr lang="en-US" sz="1205" dirty="0"/>
          </a:p>
          <a:p>
            <a:pPr indent="0" marL="0">
              <a:buNone/>
            </a:pP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Finding:</a:t>
            </a:r>
            <a:endParaRPr lang="en-US" sz="1205" dirty="0"/>
          </a:p>
          <a:p>
            <a:pPr indent="0" marL="0">
              <a:buNone/>
            </a:pPr>
            <a:r>
              <a:rPr lang="en-US" sz="1205" dirty="0">
                <a:solidFill>
                  <a:srgbClr val="B8C7E6"/>
                </a:solidFill>
              </a:rPr>
              <a:t>Prototype-conditioned prompting was the most robust and controllable approach, especially with longer 30 s context.</a:t>
            </a:r>
            <a:endParaRPr lang="en-US" sz="1205" dirty="0"/>
          </a:p>
        </p:txBody>
      </p:sp>
      <p:sp>
        <p:nvSpPr>
          <p:cNvPr id="17" name="Shape 15"/>
          <p:cNvSpPr/>
          <p:nvPr/>
        </p:nvSpPr>
        <p:spPr>
          <a:xfrm>
            <a:off x="1005840" y="5760720"/>
            <a:ext cx="10058400" cy="658368"/>
          </a:xfrm>
          <a:prstGeom prst="roundRect">
            <a:avLst>
              <a:gd name="adj" fmla="val 8333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66E3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24128" y="5779008"/>
            <a:ext cx="73152" cy="621792"/>
          </a:xfrm>
          <a:prstGeom prst="rect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888736"/>
            <a:ext cx="9802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Main lesson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6199632"/>
            <a:ext cx="9802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8C7E6"/>
                </a:solidFill>
              </a:rPr>
              <a:t>The project moved from direct prediction toward interpretable conditioning: semantics + prototypes + text-to-music synthesis.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current path and takeaway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E3FF"/>
                </a:solidFill>
              </a:rPr>
              <a:t>A compact summary of the thesis contribution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27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0D1B34"/>
          </a:solidFill>
          <a:ln w="15240">
            <a:solidFill>
              <a:srgbClr val="274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7FAFF"/>
                </a:solidFill>
              </a:rPr>
              <a:t>Best current inference flow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96112" y="2240280"/>
            <a:ext cx="420624" cy="420624"/>
          </a:xfrm>
          <a:prstGeom prst="ellipse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29514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5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81328" y="225856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E6"/>
                </a:solidFill>
              </a:rPr>
              <a:t>Extract *_lma.csv and *_beats.csv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3090672"/>
            <a:ext cx="420624" cy="420624"/>
          </a:xfrm>
          <a:prstGeom prst="ellipse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14553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5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10896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E6"/>
                </a:solidFill>
              </a:rPr>
              <a:t>Build temporal motion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941064"/>
            <a:ext cx="420624" cy="420624"/>
          </a:xfrm>
          <a:prstGeom prst="ellipse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99592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5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395935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E6"/>
                </a:solidFill>
              </a:rPr>
              <a:t>Infer top-k prototypes and semantic controls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4791456"/>
            <a:ext cx="420624" cy="420624"/>
          </a:xfrm>
          <a:prstGeom prst="ellipse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8463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5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81328" y="48097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8C7E6"/>
                </a:solidFill>
              </a:rPr>
              <a:t>Generate candidate audio with MusicGen and validate with synchronized playback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394960"/>
            <a:ext cx="4526280" cy="658368"/>
          </a:xfrm>
          <a:prstGeom prst="roundRect">
            <a:avLst>
              <a:gd name="adj" fmla="val 6944"/>
            </a:avLst>
          </a:prstGeom>
          <a:solidFill>
            <a:srgbClr val="112347"/>
          </a:solidFill>
          <a:ln w="13970">
            <a:solidFill>
              <a:srgbClr val="FFCC66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" y="5413248"/>
            <a:ext cx="73152" cy="621792"/>
          </a:xfrm>
          <a:prstGeom prst="rect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532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AFF"/>
                </a:solidFill>
              </a:rPr>
              <a:t>Why it is practical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697480" y="553212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8C7E6"/>
                </a:solidFill>
              </a:rPr>
              <a:t>Interpretable controls, top-k variation, and editable prompts.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5989320" y="1463040"/>
            <a:ext cx="5577840" cy="1920240"/>
          </a:xfrm>
          <a:prstGeom prst="roundRect">
            <a:avLst>
              <a:gd name="adj" fmla="val 285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66E3FF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07608" y="1481328"/>
            <a:ext cx="73152" cy="1883664"/>
          </a:xfrm>
          <a:prstGeom prst="rect">
            <a:avLst/>
          </a:prstGeom>
          <a:solidFill>
            <a:srgbClr val="66E3FF"/>
          </a:solidFill>
          <a:ln w="12700">
            <a:solidFill>
              <a:srgbClr val="66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59105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Contribution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53912" y="1901952"/>
            <a:ext cx="53218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B8C7E6"/>
                </a:solidFill>
              </a:rPr>
              <a:t>A defensible end-to-end Motion2Music pipeline with five layers: motion understanding, semantic control, prototype prediction, text-guided generation, and human/metric-based validation.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5989320" y="361188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FF4FCB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07608" y="3630168"/>
            <a:ext cx="73152" cy="1152144"/>
          </a:xfrm>
          <a:prstGeom prst="rect">
            <a:avLst/>
          </a:prstGeom>
          <a:solidFill>
            <a:srgbClr val="FF4FCB"/>
          </a:solidFill>
          <a:ln w="12700">
            <a:solidFill>
              <a:srgbClr val="FF4F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373989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Current limitations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53912" y="4050792"/>
            <a:ext cx="5321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B8C7E6"/>
                </a:solidFill>
              </a:rPr>
              <a:t>Cross-dataset domain shift remains strong, some prototypes may reflect dataset structure, and CLAP improvements do not always perfectly match human musical fit.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5989320" y="5029200"/>
            <a:ext cx="5577840" cy="1024128"/>
          </a:xfrm>
          <a:prstGeom prst="roundRect">
            <a:avLst>
              <a:gd name="adj" fmla="val 5357"/>
            </a:avLst>
          </a:prstGeom>
          <a:solidFill>
            <a:srgbClr val="112347">
              <a:alpha val="95000"/>
            </a:srgbClr>
          </a:solidFill>
          <a:ln w="15240">
            <a:solidFill>
              <a:srgbClr val="7CE2A8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07608" y="5047488"/>
            <a:ext cx="73152" cy="987552"/>
          </a:xfrm>
          <a:prstGeom prst="rect">
            <a:avLst/>
          </a:prstGeom>
          <a:solidFill>
            <a:srgbClr val="7CE2A8"/>
          </a:solidFill>
          <a:ln w="12700">
            <a:solidFill>
              <a:srgbClr val="7CE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515721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Takeaway message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53912" y="5468112"/>
            <a:ext cx="5321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B8C7E6"/>
                </a:solidFill>
              </a:rPr>
              <a:t>Motion should guide music through interpretable intermediate representations rather than through direct raw audio regression.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Motion2Music: Thesis Basics</dc:title>
  <dc:subject>Motion2Music thesis basics</dc:subject>
  <dc:creator>OpenAI</dc:creator>
  <cp:lastModifiedBy>OpenAI</cp:lastModifiedBy>
  <cp:revision>1</cp:revision>
  <dcterms:created xsi:type="dcterms:W3CDTF">2026-03-19T19:39:57Z</dcterms:created>
  <dcterms:modified xsi:type="dcterms:W3CDTF">2026-03-19T19:39:57Z</dcterms:modified>
</cp:coreProperties>
</file>